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Style Guide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layouts for Gambia Tourism Training decks. Updated for ITC ecomConnect alignment.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05840" cy="777240"/>
          </a:xfrm>
          <a:prstGeom prst="rect">
            <a:avLst/>
          </a:prstGeom>
          <a:solidFill>
            <a:srgbClr val="E0005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07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#E00059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990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ONE per slide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37360" y="1783080"/>
            <a:ext cx="1005840" cy="777240"/>
          </a:xfrm>
          <a:prstGeom prst="rect">
            <a:avLst/>
          </a:prstGeom>
          <a:solidFill>
            <a:srgbClr val="092E49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807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#092E49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2990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dividers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26080" y="1783080"/>
            <a:ext cx="1005840" cy="77724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2807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#262626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990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copy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0" y="1783080"/>
            <a:ext cx="1005840" cy="777240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2807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#7A7A7A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2990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Captions, footers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03520" y="1783080"/>
            <a:ext cx="100584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2807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#F4F4F4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0" y="2990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fills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92240" y="1783080"/>
            <a:ext cx="1005840" cy="777240"/>
          </a:xfrm>
          <a:prstGeom prst="rect">
            <a:avLst/>
          </a:prstGeom>
          <a:solidFill>
            <a:srgbClr val="009EE3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807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#009EE3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990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2nd series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Bold 28pt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13pt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copy, bullets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grey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425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Bold 10pt, spaced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0" y="4425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Eyebrow / section tag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0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718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10pt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4718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/ captions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32320" y="47183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166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RULES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486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&amp; closing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0" y="54864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tri-logo lockup: ITC + Gambia + Funded by EU.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5779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slides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0" y="57790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ITC mark top-right + thin pink accent line.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" y="6071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ecomConnect mark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43200" y="60716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Sparingly. Closing slide only — never on content.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Style Guide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2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937760"/>
            <a:ext cx="502920" cy="54864"/>
          </a:xfrm>
          <a:prstGeom prst="rect">
            <a:avLst/>
          </a:prstGeom>
          <a:solidFill>
            <a:srgbClr val="E0005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Customer.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Brand.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&amp; Branding for Tourism — Day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06640" y="5760720"/>
            <a:ext cx="4251960" cy="777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5829300"/>
            <a:ext cx="1280160" cy="640080"/>
          </a:xfrm>
          <a:prstGeom prst="rect">
            <a:avLst/>
          </a:prstGeom>
        </p:spPr>
      </p:pic>
      <p:pic>
        <p:nvPicPr>
          <p:cNvPr id="7" name="Image 1" descr="logos/gamb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829300"/>
            <a:ext cx="813816" cy="640080"/>
          </a:xfrm>
          <a:prstGeom prst="rect">
            <a:avLst/>
          </a:prstGeom>
        </p:spPr>
      </p:pic>
      <p:pic>
        <p:nvPicPr>
          <p:cNvPr id="8" name="Image 2" descr="logos/e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829300"/>
            <a:ext cx="795528" cy="6400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2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Youth Empowerment Project — The Gambia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1005840" cy="1005840"/>
          </a:xfrm>
          <a:prstGeom prst="rect">
            <a:avLst/>
          </a:prstGeom>
          <a:solidFill>
            <a:srgbClr val="E00059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828800"/>
            <a:ext cx="4114800" cy="38404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5120640"/>
            <a:ext cx="1188720" cy="1188720"/>
          </a:xfrm>
          <a:prstGeom prst="rect">
            <a:avLst/>
          </a:prstGeom>
          <a:solidFill>
            <a:srgbClr val="009EE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solidFill>
            <a:srgbClr val="092E49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0" y="2560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WHO VISITS AND WHY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52160" y="29260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Visits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852160" y="4983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visitor is the foundation of every marketing decision.</a:t>
            </a:r>
            <a:endParaRPr lang="en-US" sz="1500" dirty="0"/>
          </a:p>
        </p:txBody>
      </p:sp>
      <p:pic>
        <p:nvPicPr>
          <p:cNvPr id="9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4320"/>
            <a:ext cx="82296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0" y="777240"/>
            <a:ext cx="3931920" cy="0"/>
          </a:xfrm>
          <a:prstGeom prst="line">
            <a:avLst/>
          </a:prstGeom>
          <a:noFill/>
          <a:ln w="9525">
            <a:solidFill>
              <a:srgbClr val="E000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" y="6492240"/>
            <a:ext cx="0" cy="182880"/>
          </a:xfrm>
          <a:prstGeom prst="line">
            <a:avLst/>
          </a:prstGeom>
          <a:noFill/>
          <a:ln w="15875">
            <a:solidFill>
              <a:srgbClr val="E000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WHO VISITS AND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your customers?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Gambia's tourism market has four distinct visitor types.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92E49"/>
                </a:solidFill>
              </a:rPr>
              <a:t>International leisure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62626"/>
                </a:solidFill>
              </a:rPr>
              <a:t>UK, Germany, Scandinavia, Netherlands — seek sun, culture, nature.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92E49"/>
                </a:solidFill>
              </a:rPr>
              <a:t>Diaspora &amp; VFR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62626"/>
                </a:solidFill>
              </a:rPr>
              <a:t>Gambians abroad returning home — loyal, repeat, in-market voice.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92E49"/>
                </a:solidFill>
              </a:rPr>
              <a:t>Domestic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262626"/>
                </a:solidFill>
              </a:rPr>
              <a:t>Gambians travelling in-country — growing, underserved, price-sensitive.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92E49"/>
                </a:solidFill>
              </a:rPr>
              <a:t>Business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</a:rPr>
              <a:t>ECOWAS professionals, NGO workers — value reliability and speed.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0"/>
            <a:ext cx="4206240" cy="39319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4251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Gambian family at craft 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festival — natural light, candid.</a:t>
            </a:r>
            <a:endParaRPr lang="en-US" sz="900" dirty="0"/>
          </a:p>
        </p:txBody>
      </p:sp>
      <p:pic>
        <p:nvPicPr>
          <p:cNvPr id="9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4320"/>
            <a:ext cx="82296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0" y="777240"/>
            <a:ext cx="3931920" cy="0"/>
          </a:xfrm>
          <a:prstGeom prst="line">
            <a:avLst/>
          </a:prstGeom>
          <a:noFill/>
          <a:ln w="9525">
            <a:solidFill>
              <a:srgbClr val="E000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" y="6492240"/>
            <a:ext cx="0" cy="182880"/>
          </a:xfrm>
          <a:prstGeom prst="line">
            <a:avLst/>
          </a:prstGeom>
          <a:noFill/>
          <a:ln w="15875">
            <a:solidFill>
              <a:srgbClr val="E000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 ·  VISUAL IDENTITY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a rebrand makes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3108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033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OLD LOGO IMAGE 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55321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portrayed mountain · Old fashioned flag · Unclear hierarchy.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99632" y="19659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2331720"/>
            <a:ext cx="5440680" cy="3108960"/>
          </a:xfrm>
          <a:prstGeom prst="rect">
            <a:avLst/>
          </a:prstGeom>
          <a:solidFill>
            <a:srgbClr val="FFE5EF"/>
          </a:solidFill>
          <a:ln/>
        </p:spPr>
      </p:sp>
      <p:sp>
        <p:nvSpPr>
          <p:cNvPr id="10" name="Text 8"/>
          <p:cNvSpPr/>
          <p:nvPr/>
        </p:nvSpPr>
        <p:spPr>
          <a:xfrm>
            <a:off x="6199632" y="37033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NEW LOGO IMAGE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99632" y="55321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Modernised mountain · Flag restored · Brand name dominant and legible.</a:t>
            </a:r>
            <a:endParaRPr lang="en-US" sz="1200" dirty="0"/>
          </a:p>
        </p:txBody>
      </p:sp>
      <p:pic>
        <p:nvPicPr>
          <p:cNvPr id="12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4320"/>
            <a:ext cx="822960" cy="4114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32320" y="777240"/>
            <a:ext cx="3931920" cy="0"/>
          </a:xfrm>
          <a:prstGeom prst="line">
            <a:avLst/>
          </a:prstGeom>
          <a:noFill/>
          <a:ln w="9525">
            <a:solidFill>
              <a:srgbClr val="E000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3232" y="6492240"/>
            <a:ext cx="0" cy="182880"/>
          </a:xfrm>
          <a:prstGeom prst="line">
            <a:avLst/>
          </a:prstGeom>
          <a:noFill/>
          <a:ln w="15875">
            <a:solidFill>
              <a:srgbClr val="E000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WHAT IS A BRAND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brand lives in the overlap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say about yourself meets how your audience feels about you.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17520" y="2834640"/>
            <a:ext cx="3840480" cy="3017520"/>
          </a:xfrm>
          <a:prstGeom prst="ellipse">
            <a:avLst/>
          </a:prstGeom>
          <a:solidFill>
            <a:srgbClr val="E0005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0952" y="2834640"/>
            <a:ext cx="3840480" cy="3017520"/>
          </a:xfrm>
          <a:prstGeom prst="ellipse">
            <a:avLst/>
          </a:prstGeom>
          <a:solidFill>
            <a:srgbClr val="092E49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71032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your business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audience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about you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3931920"/>
            <a:ext cx="1033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without perception is noise. Perception without branding is accident.</a:t>
            </a:r>
            <a:endParaRPr lang="en-US" sz="1200" dirty="0"/>
          </a:p>
        </p:txBody>
      </p:sp>
      <p:pic>
        <p:nvPicPr>
          <p:cNvPr id="13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4320"/>
            <a:ext cx="822960" cy="4114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132320" y="777240"/>
            <a:ext cx="3931920" cy="0"/>
          </a:xfrm>
          <a:prstGeom prst="line">
            <a:avLst/>
          </a:prstGeom>
          <a:noFill/>
          <a:ln w="9525">
            <a:solidFill>
              <a:srgbClr val="E000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6492240"/>
            <a:ext cx="0" cy="182880"/>
          </a:xfrm>
          <a:prstGeom prst="line">
            <a:avLst/>
          </a:prstGeom>
          <a:noFill/>
          <a:ln w="15875">
            <a:solidFill>
              <a:srgbClr val="E000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WHAT IS A BRAND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branding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branding does four things for your business.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06040" cy="3291840"/>
          </a:xfrm>
          <a:prstGeom prst="rect">
            <a:avLst/>
          </a:prstGeom>
          <a:solidFill>
            <a:srgbClr val="E0005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out from competition in a crowded market.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423160"/>
            <a:ext cx="2606040" cy="32918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3520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4206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your message clearly to every customer.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423160"/>
            <a:ext cx="2606040" cy="32918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520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4206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your resources on what truly matters.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5400" y="2423160"/>
            <a:ext cx="2606040" cy="32918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2697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89720" y="3520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89720" y="4206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your position, motivate your team.</a:t>
            </a:r>
            <a:endParaRPr lang="en-US" sz="1200" dirty="0"/>
          </a:p>
        </p:txBody>
      </p:sp>
      <p:pic>
        <p:nvPicPr>
          <p:cNvPr id="21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4320"/>
            <a:ext cx="822960" cy="4114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132320" y="777240"/>
            <a:ext cx="3931920" cy="0"/>
          </a:xfrm>
          <a:prstGeom prst="line">
            <a:avLst/>
          </a:prstGeom>
          <a:noFill/>
          <a:ln w="9525">
            <a:solidFill>
              <a:srgbClr val="E0005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3232" y="6492240"/>
            <a:ext cx="0" cy="182880"/>
          </a:xfrm>
          <a:prstGeom prst="line">
            <a:avLst/>
          </a:prstGeom>
          <a:noFill/>
          <a:ln w="15875">
            <a:solidFill>
              <a:srgbClr val="E000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2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gut feeling people have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hear your name.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DESCRIPTION OF A BRAND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92E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Tunga, Uganda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Africa's Adventure Capital — built on a single, powerful location story.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Jinja, Uganda — gateway to the source of the Nile.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3474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dedicated adventure base; international bookings grow.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44805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Award-winning operator; visitors from across Europe and beyond.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2194560"/>
            <a:ext cx="4572000" cy="3108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5440680"/>
            <a:ext cx="4572000" cy="777240"/>
          </a:xfrm>
          <a:prstGeom prst="rect">
            <a:avLst/>
          </a:prstGeom>
          <a:solidFill>
            <a:srgbClr val="092E4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5440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“East Africa's Adventure Capital”</a:t>
            </a:r>
            <a:endParaRPr lang="en-US" sz="1400" dirty="0"/>
          </a:p>
        </p:txBody>
      </p:sp>
      <p:pic>
        <p:nvPicPr>
          <p:cNvPr id="16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4320"/>
            <a:ext cx="822960" cy="4114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132320" y="777240"/>
            <a:ext cx="3931920" cy="0"/>
          </a:xfrm>
          <a:prstGeom prst="line">
            <a:avLst/>
          </a:prstGeom>
          <a:noFill/>
          <a:ln w="9525">
            <a:solidFill>
              <a:srgbClr val="E0005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" y="6492240"/>
            <a:ext cx="0" cy="182880"/>
          </a:xfrm>
          <a:prstGeom prst="line">
            <a:avLst/>
          </a:prstGeom>
          <a:noFill/>
          <a:ln w="15875">
            <a:solidFill>
              <a:srgbClr val="E000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E000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Visitor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5760720"/>
            <a:ext cx="1280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51960" y="1005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502920" cy="50292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visitor type. International leisure, Diaspora, Domestic, or Business — which is your most valuable today? (5 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2606040"/>
            <a:ext cx="502920" cy="50292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person. Age, occupation, where they're from. What do they like? What do they fear? (7 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51960" y="3794760"/>
            <a:ext cx="502920" cy="50292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703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their journey. How do they hear about you? What makes them book? What do they post afterwards? (5 m)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51960" y="4983480"/>
            <a:ext cx="502920" cy="50292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4892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your neighbour. Swap sketches. Where on the page is each other's thinking? (3 m)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51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WHAT IS A BRAND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strong brand comes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— each builds on the last.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4160520"/>
            <a:ext cx="8183880" cy="0"/>
          </a:xfrm>
          <a:prstGeom prst="line">
            <a:avLst/>
          </a:prstGeom>
          <a:noFill/>
          <a:ln w="19050">
            <a:solidFill>
              <a:srgbClr val="7A7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you are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703320"/>
            <a:ext cx="914400" cy="91440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03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values, personality.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44568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44568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who you are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1848" y="3703320"/>
            <a:ext cx="914400" cy="914400"/>
          </a:xfrm>
          <a:prstGeom prst="ellipse">
            <a:avLst/>
          </a:prstGeom>
          <a:solidFill>
            <a:srgbClr val="E00059"/>
          </a:solidFill>
          <a:ln w="12700">
            <a:solidFill>
              <a:srgbClr val="E000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41848" y="3703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44568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colours, tone of voice.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48472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MANAGEMENT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48472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consistently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45752" y="3703320"/>
            <a:ext cx="914400" cy="914400"/>
          </a:xfrm>
          <a:prstGeom prst="ellipse">
            <a:avLst/>
          </a:prstGeom>
          <a:solidFill>
            <a:srgbClr val="F4F4F4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3703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348472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touchpoint, every time.</a:t>
            </a:r>
            <a:endParaRPr lang="en-US" sz="1200" dirty="0"/>
          </a:p>
        </p:txBody>
      </p:sp>
      <p:pic>
        <p:nvPicPr>
          <p:cNvPr id="21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4320"/>
            <a:ext cx="822960" cy="4114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132320" y="777240"/>
            <a:ext cx="3931920" cy="0"/>
          </a:xfrm>
          <a:prstGeom prst="line">
            <a:avLst/>
          </a:prstGeom>
          <a:noFill/>
          <a:ln w="9525">
            <a:solidFill>
              <a:srgbClr val="E0005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3232" y="6492240"/>
            <a:ext cx="0" cy="182880"/>
          </a:xfrm>
          <a:prstGeom prst="line">
            <a:avLst/>
          </a:prstGeom>
          <a:noFill/>
          <a:ln w="15875">
            <a:solidFill>
              <a:srgbClr val="E0005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2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RECAP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brand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a well-built brand does for your tourism business.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40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stand out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743200"/>
            <a:ext cx="5440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926080"/>
            <a:ext cx="411480" cy="41148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743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comms clear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you recognisable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703320"/>
            <a:ext cx="5440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3886200"/>
            <a:ext cx="411480" cy="41148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7033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credibility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5440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4663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sales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4663440"/>
            <a:ext cx="5440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4846320"/>
            <a:ext cx="411480" cy="411480"/>
          </a:xfrm>
          <a:prstGeom prst="ellipse">
            <a:avLst/>
          </a:prstGeom>
          <a:solidFill>
            <a:srgbClr val="E0005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4663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loyalty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0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·  BUILDING YOUR BRAND IDENTITY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2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core values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1–3 from each group. Aim for 5–8 total.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703320" cy="457200"/>
          </a:xfrm>
          <a:prstGeom prst="rect">
            <a:avLst/>
          </a:prstGeom>
          <a:solidFill>
            <a:srgbClr val="092E4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VALUES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703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 ·  Trust  ·  Health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70332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661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  ·  Optimism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3703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3434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 ·  Authenticity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370332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206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331720"/>
            <a:ext cx="3703320" cy="457200"/>
          </a:xfrm>
          <a:prstGeom prst="rect">
            <a:avLst/>
          </a:prstGeom>
          <a:solidFill>
            <a:srgbClr val="092E49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2331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ESTEEM &amp; MEANING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788920"/>
            <a:ext cx="3703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7889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 ·  Justice  ·  Equality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3566160"/>
            <a:ext cx="370332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35661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 ·  Generosity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4343400"/>
            <a:ext cx="3703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3434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 ·  Love  ·  Fun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5120640"/>
            <a:ext cx="370332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51206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 ·  Vision  ·  Courage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2331720"/>
            <a:ext cx="3703320" cy="457200"/>
          </a:xfrm>
          <a:prstGeom prst="rect">
            <a:avLst/>
          </a:prstGeom>
          <a:solidFill>
            <a:srgbClr val="092E49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2331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SELF-ACTUALISATION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2788920"/>
            <a:ext cx="3703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27889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 ·  Integrity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566160"/>
            <a:ext cx="370332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35661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  ·  Truth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4343400"/>
            <a:ext cx="3703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3434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  ·  Expression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38160" y="5120640"/>
            <a:ext cx="3703320" cy="7772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51206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Selflessness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values shape every decision — from who you hire to how you answer a guest review.</a:t>
            </a:r>
            <a:endParaRPr lang="en-US" sz="1200" dirty="0"/>
          </a:p>
        </p:txBody>
      </p:sp>
      <p:pic>
        <p:nvPicPr>
          <p:cNvPr id="36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4320"/>
            <a:ext cx="822960" cy="41148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7132320" y="777240"/>
            <a:ext cx="3931920" cy="0"/>
          </a:xfrm>
          <a:prstGeom prst="line">
            <a:avLst/>
          </a:prstGeom>
          <a:noFill/>
          <a:ln w="9525">
            <a:solidFill>
              <a:srgbClr val="E0005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5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13232" y="6492240"/>
            <a:ext cx="0" cy="182880"/>
          </a:xfrm>
          <a:prstGeom prst="line">
            <a:avLst/>
          </a:prstGeom>
          <a:noFill/>
          <a:ln w="15875">
            <a:solidFill>
              <a:srgbClr val="E0005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Gambia Tourism Training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2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777240" cy="777240"/>
          </a:xfrm>
          <a:prstGeom prst="rect">
            <a:avLst/>
          </a:prstGeom>
          <a:solidFill>
            <a:srgbClr val="E00059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280160"/>
            <a:ext cx="502920" cy="502920"/>
          </a:xfrm>
          <a:prstGeom prst="rect">
            <a:avLst/>
          </a:prstGeom>
          <a:solidFill>
            <a:srgbClr val="009EE3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ideas, or follow-up — let's keep the conversation going.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502920" cy="54864"/>
          </a:xfrm>
          <a:prstGeom prst="rect">
            <a:avLst/>
          </a:prstGeom>
          <a:solidFill>
            <a:srgbClr val="E0005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Youth Empowerment Project — Tourism &amp; Creative Industries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526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Trade Centre  ·  54–56 Rue de Montbrillant, 1202 Geneva, Switzerland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intracen.org  ·  ecomconnect.org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5760720"/>
            <a:ext cx="4251960" cy="777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0" descr="logos/i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29300"/>
            <a:ext cx="1280160" cy="640080"/>
          </a:xfrm>
          <a:prstGeom prst="rect">
            <a:avLst/>
          </a:prstGeom>
        </p:spPr>
      </p:pic>
      <p:pic>
        <p:nvPicPr>
          <p:cNvPr id="12" name="Image 1" descr="logos/gamb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5829300"/>
            <a:ext cx="813816" cy="640080"/>
          </a:xfrm>
          <a:prstGeom prst="rect">
            <a:avLst/>
          </a:prstGeom>
        </p:spPr>
      </p:pic>
      <p:pic>
        <p:nvPicPr>
          <p:cNvPr id="13" name="Image 2" descr="logos/e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5829300"/>
            <a:ext cx="795528" cy="6400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98280" y="6217920"/>
            <a:ext cx="2606040" cy="5029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3" descr="logos/itc_ecom_du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0" y="6312560"/>
            <a:ext cx="2194560" cy="31363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98280" y="5943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PARTNERSHIP WITH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Template — Gambia Tourism Training</dc:title>
  <dc:subject>PptxGenJS Presentation</dc:subject>
  <dc:creator>ITC YEP — The Gambia</dc:creator>
  <cp:lastModifiedBy>ITC YEP — The Gambia</cp:lastModifiedBy>
  <cp:revision>1</cp:revision>
  <dcterms:created xsi:type="dcterms:W3CDTF">2026-04-30T08:07:19Z</dcterms:created>
  <dcterms:modified xsi:type="dcterms:W3CDTF">2026-04-30T08:07:19Z</dcterms:modified>
</cp:coreProperties>
</file>
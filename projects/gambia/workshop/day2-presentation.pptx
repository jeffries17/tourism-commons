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Tracking Progress &amp; Institutional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Institutional Capacity Workshop · ITC EU Youth Empowerment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97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0D4"/>
                </a:solidFill>
                <a:latin typeface="Calibri"/>
              </a:rPr>
              <a:t>Banjul, The Gambia  ·  May 2026  ·  8:30 – 13:00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YESTERDAY'S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What we agreed on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Today we return to these — to confirm, refine, and coordinate.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Track what the world sees about The Gambia — consistently, not occasionally.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331720"/>
            <a:ext cx="2606040" cy="4114800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Make findable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Ensure your sector and members appear where operators and tourists search.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317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Open a 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Connect at least one SME to an operator, platform, or journalist they couldn't reach alone.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331720"/>
            <a:ext cx="2606040" cy="41148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Share + coordinate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Act on intelligence together — at least one joint action per quarter.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TODAY'S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From individual action to shared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Yesterday was about what exists and what each of you can do — individually, within your mandate, with free tools.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Today is about two things: how you know it's working, and where doing this together produces more than doing it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FRIDAY · 8:30 – 13:00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Today's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8:30 – 9:00    Opening — recap of Day 1 commitments, arc of today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9:00 – 10:00   Session 5 · Digital Ecosystem and Institutional Visibility — governance, SEO, partnerships, seasonal presence, crisis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10:00 – 11:00  Session 6 · Monitoring Progress — framework, KPIs, coordination, exercises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11:00 – 11:15  Break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11:15 – 13:00  Wrap-Up · Priorities, Commitments, and Coordination — synthesis, 30-day commitments, coordination mechanism,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5EEF4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20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317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Digital Ecosystem and
Institutional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663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Who maintains what, who owns what, and what falls through the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PLATFORM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Who owns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Platform governance is an organisational question, not a technical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For each official platform — website, social media, Google Business profile — who has admin access?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Who is responsible for updates? What happens when that person leaves?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Digital orphans: platforms created for projects that ended without a handover plan. Still live, still appearing credible to visitors, but containing outdated information.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Starting action: one spreadsheet, one hour — list every official digital touchpoint, note when it was last updated, identify who has access.</a:t>
            </a:r>
          </a:p>
        </p:txBody>
      </p:sp>
      <p:pic>
        <p:nvPicPr>
          <p:cNvPr id="6" name="Picture 5" descr="visit_the_gambia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DESTINATION-LEVEL SEO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institutional role in how The Gambia appears in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Individual operators appear in search results for their own names — but who ensures The Gambia appears as a destination for visitors who don't yet know which operator to book with?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This is the destination-level search problem. It is not solved by any individual SME — it requires coordinated institutional action.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Content aggregation: a single authoritative source of what The Gambia offers — maintained consistently, shared across partner platforms and media.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Search engines reward consistency: the same correct, updated information appearing across GT Board, NCAC listings, and verified operator profiles.</a:t>
            </a:r>
          </a:p>
        </p:txBody>
      </p:sp>
      <p:pic>
        <p:nvPicPr>
          <p:cNvPr id="5" name="Picture 4" descr="visit_the_gambia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INSTITUTIONS CAN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Partnerships SMEs cannot open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OTAs — negotiating creative tourism categories on GetYourGuide, Viator, or Booking Experiences requires institutional credibility, not just individual applications.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Travel media — pitching The Gambia to Lonely Planet, BBC Travel, or specialist press is more effective from a national institution than from an individual artisan.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Influencer programmes — a curated programme managed by GT Board, where institutions vet, brief, and facilitate, gives far greater control over messaging than ad hoc SME arrangements.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Trade fairs — World Travel Market, ITB Berlin: institutions attend and can carry SME profiles into rooms those SMEs will never enter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THE OFF-SEASON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Keeping The Gambia visible year-round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The Gambia's main tourist season runs October–April. Between May and September, search interest drops sharply — while competitor destinations maintain their content and campaigns.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The visibility gap: a potential visitor searching in July finds stale content from the previous peak season. The destination loses consideration at the planning stage.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Institutional role: schedule consistent content updates, press releases, and social media activity regardless of season. The same effort in August has greater impact because so few competitors are active.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Practical anchor: a quarterly content calendar, maintained by GT Board and shared with associations — agreed topics, agreed timing, consistent presence.</a:t>
            </a:r>
          </a:p>
        </p:txBody>
      </p:sp>
      <p:pic>
        <p:nvPicPr>
          <p:cNvPr id="5" name="Picture 4" descr="gambia_senegal_google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WHEN THINGS GO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Crisis and reputation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Your monitoring routine will surface problems. Institutions need an agreed protocol before a crisis, not during one.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Designate one person per institution responsible for weekly monitoring. Set a Google Alert for "The Gambia" + your sector name.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Agree a response threshold — any review below 3 stars on an official platform, or any factual error, triggers a response within 24 hours.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Share patterns of negative reviews at the quarterly call — don't manage reputation in isolation.</a:t>
            </a:r>
          </a:p>
        </p:txBody>
      </p:sp>
      <p:pic>
        <p:nvPicPr>
          <p:cNvPr id="5" name="Picture 4" descr="google_alert_visit_gamb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5EEF4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20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SESSION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317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Monitoring Progress:
Building a Simple Intelligence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663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A simple check done consistently is more valuable than a comprehensive study done once every two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00059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"Routine beats sophistication. "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983480"/>
            <a:ext cx="1371600" cy="54864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88A0"/>
                </a:solidFill>
                <a:latin typeface="Calibri"/>
              </a:rPr>
              <a:t>"Routine beats sophistication. 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THE MONITORING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Three questions a monitoring routine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Are we being found?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By the right audiences, on the platforms they use to plan and 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Right experience?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Are visitors having the experience we want them to have and report?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Improving over time?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Consistency matters more than any single data point. Is the trend moving?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A SIMPLE MONITORING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Three tools. Three habits. All free.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Operator catalogue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Visit 10 key operators each quarter — same ones each time. Note what they feature. 2 hours / quarter.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Review sentiment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Read 20 most recent TripAdvisor reviews monthly. Note themes, flag issues. 1 hour / 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Annual benchmarking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Same D1 dimensions — social media, website currency, discoverability, booking. Half a day /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TOOL 1 · QUARTERLY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Operator catalogue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Visit the websites of 10 key operators selling The Gambia — same 10 each quarter.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Note: How is The Gambia described? Which experiences are featured? What images are used? Is your sector present?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Record in a simple shared spreadsheet. Compare quarter-on-quarter — the trend matters more than any single snapshot.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2 hours per quarter. No login, no account, no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TOOL 2 · MONTHLY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Review sentiment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Read the 20 most recent TripAdvisor reviews for The Gambia destination page and 2–3 key attractions.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Note recurring themes — both positive and negative.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Flag anything requiring a response: below 3 stars, specific complaint, or factual error.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Track direction of travel: improving / stable / declining. The Gambia's current baseline is +0.24.</a:t>
            </a:r>
          </a:p>
        </p:txBody>
      </p:sp>
      <p:pic>
        <p:nvPicPr>
          <p:cNvPr id="5" name="Picture 4" descr="tripadvisor_gambia_to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TOOL 3 · ANNUAL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Annual benchmarking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Once a year: assess The Gambia's digital presence using the same D1 dimensions.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Social media activity, website currency, discoverability, booking capability.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Compare year-on-year to track overall progress across sectors.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D1 and D2 baselines provide the Year 1 starting point — already done.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920240"/>
            <a:ext cx="4480560" cy="42519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39090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A7A"/>
                </a:solidFill>
                <a:latin typeface="Calibri"/>
              </a:rPr>
              <a:t>[the-gambia-pfivvKSHE18.jpg]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THE SHARED TRACKING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One spreadsheet. Three tools. All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The template has three tabs: Operator Catalogue (quarterly), Sentiment Scan (monthly), Annual Benchmarking.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Each institution records its own findings. GT Board maintains the master copy and adds a summary column.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Format: institution name · date · finding · direction (↑ ↓ →) · flag for joint action (Y/N).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Review the shared template at each quarterly coordination call — this is what turns individual monitoring into shared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D2 · TABLE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The starting KPI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Ready-made from D2 Table 20. You don't need to design your own starting framework.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77440"/>
          <a:ext cx="109728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809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>
                    <a:solidFill>
                      <a:srgbClr val="09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2025 Baseline</a:t>
                      </a:r>
                    </a:p>
                  </a:txBody>
                  <a:tcPr>
                    <a:solidFill>
                      <a:srgbClr val="09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2026 Target</a:t>
                      </a:r>
                    </a:p>
                  </a:txBody>
                  <a:tcPr>
                    <a:solidFill>
                      <a:srgbClr val="09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to track</a:t>
                      </a:r>
                    </a:p>
                  </a:txBody>
                  <a:tcPr>
                    <a:solidFill>
                      <a:srgbClr val="092E49"/>
                    </a:solidFill>
                  </a:tcPr>
                </a:tc>
              </a:tr>
              <a:tr h="7680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ITO creative tourism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Quarterly operator catalogue check</a:t>
                      </a:r>
                    </a:p>
                  </a:txBody>
                  <a:tcPr/>
                </a:tc>
              </a:tr>
              <a:tr h="7680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Average visitor sentiment score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+0.24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+0.30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Monthly TripAdvisor scan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7680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Verified TripAdvisor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Monthly TripAdvisor scan</a:t>
                      </a:r>
                    </a:p>
                  </a:txBody>
                  <a:tcPr/>
                </a:tc>
              </a:tr>
              <a:tr h="76809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Average review rating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+0.2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Monthly TripAdvisor scan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CLOSING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From monitoring to SME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Monitoring shared only within institutions has limited value. The goal is to translate intelligence into guidance SMEs can act on.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Quarterly briefing note: one page, what the data shows, what it means for operators. 2 hours to produce. Distribute via WhatsApp or email.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Short alert: when something significant changes — a new operator selling The Gambia, a cluster of negative reviews. Triggered, not scheduled.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Tone: "here is what we are seeing and what it might mean for you" — not evaluation or judgement.</a:t>
            </a:r>
          </a:p>
        </p:txBody>
      </p:sp>
      <p:pic>
        <p:nvPicPr>
          <p:cNvPr id="5" name="Picture 4" descr="whatsapp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0059"/>
                </a:solidFill>
                <a:latin typeface="Calibri"/>
              </a:rPr>
              <a:t>Monitoring as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Monitoring done by one institution produces one view.
Monitoring shared by three produces a picture no single institution could create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9834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0D4"/>
                </a:solidFill>
                <a:latin typeface="Calibri"/>
              </a:rPr>
              <a:t>The quarterly call is the mechanism. GT Board convenes. NCAC, associations, and sector bodies share what they've seen.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THE COORDINATION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The quarterly coordination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What has each institution observed in the past quarter? One thing each — a trend, a finding, a flag.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What's new, changing, or worth acting on together? Where do findings from different institutions point in the same direction?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Agree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Is there one joint response this quarter? Assign it to a named person before the call 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Who convenes?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GT Board — Lead coordinator and custodian of shared KPI data. Convenes the quarterly call. Maintains the monitoring spreadsheet. Distributes the annual benchmarking summary.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NCAC + associations — Core participants. Each brings their sector's observation from the past quarter. Contribute to operator catalogue check where mandates align.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Ministry of Tourism — Observer and escalation point. Summary note shared after each quarterly meeting. Not required to convene.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Key criterion: not who should be there — who will reliably show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Read TripAdvisor 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Open TripAdvisor on your phone or laptop. Search: "The Gambia". Go to the destination page. Read 10–15 of the most recent reviews.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Go totripadvisor.com→ search "The Gambia" → open the destination page → sort by Most Recent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Read 10–15 reviews. On paper, note:(a)the main positive theme you see repeated,(b)any complaint or criticism,(c)whether your sector, institution, or members are mentioned anywhere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Also note: what is the overall rating? Are there responses from management to any reviews? What do the most recent reviews say?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ACTIVITY SHARE-BACK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What did you find?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Groups of 3 — compare notes. Then share back to the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What was the main positive theme repeated across reviews?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Was there a recurring complaint or criticism?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Was your sector or institution mentioned anywhere?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What would change if an institution read this monthly instead of never?</a:t>
            </a:r>
          </a:p>
        </p:txBody>
      </p:sp>
      <p:pic>
        <p:nvPicPr>
          <p:cNvPr id="6" name="Picture 5" descr="tripadvisor_gambia_to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48056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Draft your three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20 minutes · Individual then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Each participant drafts on a printed sheet. Be specific — a monitoring plan that can't be assigned to a real person won't happen.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1Three things you will track — drawn from the framework above, or adapted for your sector and mandate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2How often — monthly, quarterly, or annual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3Who is responsible — a specific role or name, not "the institution"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48737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48737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48463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4How you will share findings — WhatsApp group, email, sector meeting, or quarterly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Pairs exchange + brief share-back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10 minutes exchange · 5 minutes share-back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Exchange your draft with a partner from a different institution. Offer one piece of feedback on theirs.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1Is the responsible personspecific enough? A role or a name — not "GT Board" or "the association"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2Are the indicatorscheckable? You'll know unambiguously whether they happened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3Is the sharing channelrealistic? Something that will actually happen, not something aspirational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5EEF4"/>
                </a:solidFill>
                <a:latin typeface="Calibri"/>
              </a:rPr>
              <a:t>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20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3317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Priorities, Commitments,
and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66344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Specific. Checkable. Realistic. — and agreed before you leave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PART 1 — WHAT WE LEARNED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Facilitator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3–4 themes from across the two days — populated live by the facilitator.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[ Theme 1 — facilitator completes live ]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[ Theme 2 — facilitator completes live ]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[ Theme 3 — facilitator completes live ]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"What confirmed existing assumptions, and what challenged them? Both are useful — but they call for different responses."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00059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In one sentence: the finding or idea that was most useful or most surprising.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983480"/>
            <a:ext cx="1371600" cy="54864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Round the table. One sentence each. No extended discussion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88A0"/>
                </a:solidFill>
                <a:latin typeface="Calibri"/>
              </a:rPr>
              <a:t>Facilitator: note any themes that haven't been captured — they may surface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One concrete action in 30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15 minutes ·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Revisit your commitment from yesterday's board. Confirm or refine it. The question is: "What is one specific thing I will do in the next 30 days?"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SSpecific— not "improve our digital presence" but "conduct a platform audit and identify three outdated pages to update by June"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CCheckable— you'll know unambiguously whether it happened or 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RRealistic— within current budget, team size, and institutional mandate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PART 2 — PRIORITY ACTIONS · 45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Commitments board — capture by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A7A7A"/>
                </a:solidFill>
                <a:latin typeface="Calibri"/>
              </a:rPr>
              <a:t>Facilitator collects commitments and groups them on the board by category.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Track what the world sees — consistently, not occasionally.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331720"/>
            <a:ext cx="2606040" cy="4114800"/>
          </a:xfrm>
          <a:prstGeom prst="rect">
            <a:avLst/>
          </a:prstGeom>
          <a:solidFill>
            <a:srgbClr val="009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Make findable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Ensure your sector and members are discoverable where operators and tourists search.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31720"/>
            <a:ext cx="2606040" cy="41148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Open a 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Connect one operator, platform, or journalist to one SME they couldn't reach alone.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331720"/>
            <a:ext cx="2606040" cy="41148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56032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Share + coordinate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154679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Act on intelligence together — at least one joint action per quarter.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Activity — Draft one briefing paragraph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430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Using what you found in this morning's TripAdvisor exercise: write three sentences for your members. This is what a quarterly briefing looks like before it's polished.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1305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What we saw:One finding from this morning's TripAdvisor exercise — a recurring theme, a complaint, or a gap you noticed.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0449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0175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What it means for you:One direct implication for your members' businesses — specific, not abstract.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9593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31920"/>
            <a:ext cx="6903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One thing to do:A concrete action your members could take this month in response.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DISCUSSION ·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Where does coordination amplify?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A7A"/>
                </a:solidFill>
                <a:latin typeface="Calibri"/>
              </a:rPr>
              <a:t>Look at the board: where would two institutions working together produce more than two working separately?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"One quarterly operator spot-check, shared between GT Board and NCAC, covers more ground than two separate ones."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"A joint press release from GT Board + NCAC carries more authority than one from either alone."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"If Tour Guide Association and Craft Market Federation both briefed visitors about each other, both sectors would benefit."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PART 3 — COORDINATION MECHANISM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A minimum viable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Quarterly check-in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GT Board + NCAC + willing associations. Start here. Nothing more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Share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Each institution shares what they've observed and one thing they've done in the past quarter.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Agree joint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Is there one thing worth doing together this quarter? Assign it to a named person. Done.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7A7A"/>
                </a:solidFill>
                <a:latin typeface="Calibri"/>
              </a:rPr>
              <a:t>"Format: a call, a brief meeting, or a shared document — whatever is most likely to actually happen."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WHEN THE ROUTINE IS ESTABLISHED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If there's appetite for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A lightweight quarterly briefing note — shared across institutions and select SMEs — summarising what the monitoring data shows.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Designed to be produced in 2 hours. Distributed via WhatsApp or email.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Not a new project. It is what consistent monitoring produces.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Calibri"/>
              </a:rPr>
              <a:t>–  Before leaving: agree the date of the first quarterly check-in, who convenes, and what format.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BEFORE YOU LEAVE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Three things to agree before the room empties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1920240"/>
            <a:ext cx="164592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Date of the first quarterly check-in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A specific date — not "sometime in Q3." Write it down. Put it in a calendar before you leave.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576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76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Who convenes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A specific person, not an institution. The convener sends the invite, sets the agenda, keeps the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880" y="2148840"/>
            <a:ext cx="353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880" y="3154680"/>
            <a:ext cx="353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One action, agreed in the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2880" y="3703320"/>
            <a:ext cx="353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One thing — specific, with a name against it — that at least two institutions commit to doing before the next meeting.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00059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"Maintain momentum. Don't start something new."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983480"/>
            <a:ext cx="1371600" cy="54864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SMEs you met this week are building their digital presence.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88A0"/>
                </a:solidFill>
                <a:latin typeface="Calibri"/>
              </a:rPr>
              <a:t>The infrastructure they need to connect to the world is what you build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One word, round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Close · 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Institutional Capacity Workshop · Banjul, The Gambia ·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97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0D4"/>
                </a:solidFill>
                <a:latin typeface="Calibri"/>
              </a:rPr>
              <a:t>ITC EU Youth Empowerment Project  ·  Banjul, The Gambia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Template — Gambia Tourism Training</dc:title>
  <dc:subject>PptxGenJS Presentation</dc:subject>
  <dc:creator>ITC YEP — The Gambia</dc:creator>
  <cp:lastModifiedBy>ITC YEP — The Gambia</cp:lastModifiedBy>
  <cp:revision>1</cp:revision>
  <dcterms:created xsi:type="dcterms:W3CDTF">2026-04-30T08:07:19Z</dcterms:created>
  <dcterms:modified xsi:type="dcterms:W3CDTF">2026-04-30T08:07:19Z</dcterms:modified>
</cp:coreProperties>
</file>
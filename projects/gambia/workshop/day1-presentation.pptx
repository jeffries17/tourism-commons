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Enabling Tourism Marketing &amp; SME Competitiveness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Institutional Capacity Workshop · ITC EU Youth Empowerment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0D4"/>
                </a:solidFill>
                <a:latin typeface="Calibri"/>
              </a:rPr>
              <a:t>Banjul, The Gambia  ·  May 2026  ·  13 institutions · 2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OPENING · 8:30–9:00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Why we're here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This week, SMEs worked on their own digital presence. Today you're here to work on somethingonly institutions can do: read the landscape and create conditions for members to succeed.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question is not "how do we promote The Gambia?" It is:"how do we make it easier for others to promote it well?"</a:t>
            </a:r>
          </a:p>
        </p:txBody>
      </p:sp>
      <p:pic>
        <p:nvPicPr>
          <p:cNvPr id="5" name="Picture 4" descr="the-gambia-pI_W6zfOXvQ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0059"/>
                </a:solidFill>
                <a:latin typeface="Calibri"/>
              </a:rPr>
              <a:t>Before the data — a question for each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Name, institution, one sentence: how do you see your connection to promoting The Gambia?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9834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0D4"/>
                </a:solidFill>
                <a:latin typeface="Calibri"/>
              </a:rPr>
              <a:t>No right answer. Some of you will see it immediately. Some may wonder. That's exactly why all three tiers are in this room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THE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Two days. One clear direction.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Thursday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the data shows — inside and outside The Gambia. Every sector sees its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Thursday 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Four things you can do — for free, this month, without a new project or new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Friday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How you know it's working — and what you commit to together before you leave the room.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Calibri"/>
              </a:rPr>
              <a:t>Thursday 8:30–16:00 · Friday 8:30–13:00 · 13 institutions · 3 tiers of the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Opening activity — Map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Write on a card: your institution name + one word for your mandate. Hand it to the facilitator. The map goes on the wall and stays there for both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Write your institution + one word for your mandate (3 min).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Hand your card to the facilitator to place on the 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map stays visible. Refer back to it whenever coordination comes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1 · 9:00–10:30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What did we find — and how did we find it? Every sector sees its data before we talk about what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Three words ·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3 min · individual · before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Write three words you believe international visitors currently use to describe The Gambia as a destination.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Three words ·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2 min ·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Now a second question: write three words you wish international visitors 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THE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We looked in two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Two reports. One story. The gap = the institutional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D1 (Supply side): 61 stakeholders assessed across 7 creative sectors — what exists inside The Gambia.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D2 (Demand side): 239 international operator pages + 5,682 visitor reviews — what the world sees.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Both reports used publicly available sources. No proprietary data. A systematic approach. You can do this yourselves.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— WHAT THE WORLD SEES · 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operators show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Share of 239 international operator pages analysed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Beach &amp; resort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2316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65760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Wildlife &amp; nature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42316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00059"/>
                </a:solidFill>
                <a:latin typeface="Calibri"/>
              </a:rPr>
              <a:t>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365760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Creative &amp; cultural content</a:t>
            </a:r>
          </a:p>
        </p:txBody>
      </p:sp>
      <p:pic>
        <p:nvPicPr>
          <p:cNvPr id="11" name="Picture 10" descr="the-gambia-bloHpsZyi90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— REGIONAL COMPARISON · 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Gambia is not alone — but it is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Share of operator pages that include creative &amp; cultural content, by destination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Senegal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514600"/>
            <a:ext cx="2020824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3752" y="24231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26%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272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Ghana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218688"/>
            <a:ext cx="1632204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5132" y="31272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133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Cape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922775"/>
            <a:ext cx="1399032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831335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3542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Benin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626863"/>
            <a:ext cx="1088136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4" y="4535423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39511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Gambia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5330951"/>
            <a:ext cx="699516" cy="393192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2444" y="5239511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0059"/>
                </a:solidFill>
                <a:latin typeface="Calibri"/>
              </a:rP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5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7A7A"/>
                </a:solidFill>
                <a:latin typeface="Calibri"/>
              </a:rPr>
              <a:t>Share of operator pages that include creative &amp; cultural content, by destination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— CREATIVE TOURISM SCORE · TABLE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Gambia scores 16.9 out of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16.9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The Gambia creative tourism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4884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A7A7A"/>
                </a:solidFill>
                <a:latin typeface="Calibri"/>
              </a:rPr>
              <a:t>30.9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38328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Regional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148840"/>
            <a:ext cx="2011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91D4"/>
                </a:solidFill>
                <a:latin typeface="Calibri"/>
              </a:rPr>
              <a:t>33.9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338328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Senegal+Gambia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6400800" cy="205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Creative content mentioned on operator pages.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Whether it is prominently featured or a passing mention.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Whether specific products are named and bookable.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Benchmarked against 5 regional peers.</a:t>
            </a:r>
          </a:p>
        </p:txBody>
      </p:sp>
      <p:pic>
        <p:nvPicPr>
          <p:cNvPr id="11" name="Picture 10" descr="the-gambia-ikDsTxHn9-g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— CREATIVE TOURISM SCORE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regional gap — and a quick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16.9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The Gambia — pure Gambia tours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199" y="214884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A7A7A"/>
                </a:solidFill>
                <a:latin typeface="Calibri"/>
              </a:rP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199" y="338328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759" y="214884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91D4"/>
                </a:solidFill>
                <a:latin typeface="Calibri"/>
              </a:rPr>
              <a:t>33.9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759" y="338328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Senegal+Gambia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789920" cy="205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Regional framing already doubles the creative tourism score — without changing the product.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–  The Gambia's creative offer is valued when visitors can see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— VISITOR ORIGINS AND SATISFACTION · §4.4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Who is coming — and what they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UK &amp; Anglophone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331720"/>
            <a:ext cx="3497580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508" y="22402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Dutch &amp; Belgian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035808"/>
            <a:ext cx="2642616" cy="393192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95544" y="294436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1D4"/>
                </a:solidFill>
                <a:latin typeface="Calibri"/>
              </a:rPr>
              <a:t>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Francophone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739896"/>
            <a:ext cx="1165860" cy="393192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8788" y="364845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92E49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525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German / Swiss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443983"/>
            <a:ext cx="233172" cy="393192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100" y="4352544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A7A"/>
                </a:solidFill>
                <a:latin typeface="Calibri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1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Southern European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148071"/>
            <a:ext cx="233172" cy="393192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6100" y="5056631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A7A"/>
                </a:solidFill>
                <a:latin typeface="Calibri"/>
              </a:rPr>
              <a:t>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7A7A"/>
                </a:solidFill>
                <a:latin typeface="Calibri"/>
              </a:rPr>
              <a:t>Dutch/Belgian visitors are the most satisfied (avg 4.56 / 5). UK visitors dominate volume.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00059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8"/>
                </a:solidFill>
                <a:latin typeface="Calibri"/>
              </a:rPr>
              <a:t>D2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"The Gambia possesses authentic creative assets and generates positive visitor sentiment relative to the region, yet remains digitally invisible in the global cultural-tourism marketplace."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83480"/>
            <a:ext cx="1371600" cy="54864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Liked but not looked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88A0"/>
                </a:solidFill>
                <a:latin typeface="Calibri"/>
              </a:rPr>
              <a:t>D2 · Regional Benchmarking &amp; Market Positioning Analysis · Oct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· §4.2 · VISITOR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Gambia ranks #1 regionally 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Safety &amp; Security is The Gambia's strongest sentiment theme relative to all regional peers. A genuine competitive advantage that is almost never foregrounded in marketing.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Tour operators score +0.32 sentiment — The Gambia's best digital ambassadors.</a:t>
            </a:r>
          </a:p>
        </p:txBody>
      </p:sp>
      <p:pic>
        <p:nvPicPr>
          <p:cNvPr id="5" name="Picture 4" descr="the-gambia-nyiObDOp_ns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D1 — CREATIVE INDUSTRIES DIGITAL BASELINE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Inside The Gambia: the supply-side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Minimal or no digital footprint · 7 sectors · 61 stakeholders assessed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of stakeholders are Absent or Basic digital maturity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199" y="242316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92E49"/>
                </a:solidFill>
                <a:latin typeface="Calibri"/>
              </a:rPr>
              <a:t>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365760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post less than once a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759" y="2423160"/>
            <a:ext cx="3535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00059"/>
                </a:solidFill>
                <a:latin typeface="Calibri"/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759" y="3657600"/>
            <a:ext cx="3535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A7A"/>
                </a:solidFill>
                <a:latin typeface="Calibri"/>
              </a:rPr>
              <a:t>have digital booking or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D1 — SECTOR DIGITAL MATURITY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Your sector in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Not an evaluation of what you have done — the starting point we have to work from. Pink = most ground to 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Audiovisual / Photography (Photographers Assn) — 41% Intermediate or above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Performing &amp; Visual Arts (Music Union, Visual Arts Assn) — ~20% Intermediate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Festivals &amp; Cultural Events — Polarised: some strong, most weak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Cultural Heritage Sites — Below average across the board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Crafts &amp; Artisan Products — Largely absent or basic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Fashion &amp; Design — Least digitally visible sector 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D1 — SECTOR LEADERS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Local leaders already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D1 identified a cohort demonstrating local models of success — but isolated from others in their sector.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task is not to create something from scratch. It is to connect what already works to those who haven't found it yet.</a:t>
            </a:r>
          </a:p>
        </p:txBody>
      </p:sp>
      <p:pic>
        <p:nvPicPr>
          <p:cNvPr id="5" name="Picture 4" descr="the-gambia-01HHckNy4CQ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HOW D1 AND D2 WERE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tools that produced this are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No proprietary data required — publicly accessible sources, a systematic approach, and clear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TripAdvisor destination page — Most recent reviews, ratings, themes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Google Trends — Search interest over time by region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International operator websites — How The Gambia is described and positioned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Google Alerts — New online content mentioning The Gambia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Find your sector ·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5 min · individual · closes Block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Open your phone or laptop. Search as a tourist would. Does your sector — or your organisation — come up?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Search"[your sector] + Gambia"— for example: "craft market Gambia," "live music Banjul," "tour guide Gambia," "birdwatching Gambia."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Does your organisation appear? Do your members appear? Note what you find — and what's missing.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ACTIVITY — FIND YOUR SECTOR ·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did you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Pairs (8 min) → Share-back (7 min): Where on the spectrum did you land?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353568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Present &amp; findable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Your organisation or members appear clearly in search results — name, contact, what they offer.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199" y="2331720"/>
            <a:ext cx="353568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Visible but not bookable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Something comes up — a mention, a review — but no way to contact or book directly.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59" y="2331720"/>
            <a:ext cx="353568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8639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Effectively invisible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39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Nothing appears, or what appears isn't your sector at 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2 · 10:45–12:15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Four things you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The evidence shows the gap. These four things help close it — for free, this month, without a new project or new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2 —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Not the marketer. The enabler.</a:t>
            </a:r>
          </a:p>
        </p:txBody>
      </p:sp>
      <p:pic>
        <p:nvPicPr>
          <p:cNvPr id="4" name="Picture 3" descr="dan-roizer-GygPFmXGD1o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2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Four things institutions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That individual SMEs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Read the landscape systematically. Know what visitors are saying and operators are showing — before your members ask.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331720"/>
            <a:ext cx="260604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Make findable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Aggregate your sector so operators and tourists can find your members — one authoritative, maintained place.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a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Broker access SMEs can't reach alone — operators, journalists, trade fairs, national portals.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331720"/>
            <a:ext cx="260604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Produce one quarterly intelligence note. Nine associations. Hundreds of businesses. Two hours of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Read the landscape before your members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← One of the largest ethical UK operators. Creative industries: invisible.</a:t>
            </a:r>
          </a:p>
        </p:txBody>
      </p:sp>
      <p:pic>
        <p:nvPicPr>
          <p:cNvPr id="5" name="Picture 4" descr="responsible_travel_gambia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 ·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Four free tools. Starting Monday.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Google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Set for "Gambia tourism" + your sector. New content delivered to your inbox. Free, no expertise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2103120"/>
            <a:ext cx="260604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3317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TripAdvisor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Monthly scan: 20 most recent destination reviews. What themes recur? What's missing? What needs a response?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Operator spot-check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Quarterly: 5–10 operator websites. How is The Gambia described? Is your sector present or absent?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103120"/>
            <a:ext cx="260604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3317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Google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9260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Track search interest in "The Gambia tourism" vs regional peers. Free, no account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 · GOOGLE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Five years of search interest. Gambia vs Senegal.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Publicly available, updated daily. The seasonal peaks reveal when source markets are planning — useful for timing campaigns and member briefings.</a:t>
            </a:r>
          </a:p>
        </p:txBody>
      </p:sp>
      <p:pic>
        <p:nvPicPr>
          <p:cNvPr id="5" name="Picture 4" descr="gambia_senegal_google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 · FOR INSTITUTIONS WITH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Google Search Console: visitor intent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For institutions with websites — free once verified. Data flows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Search queries — what visitors typed before finding you. Intent, not traffic.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Pages — which pages attract visitors from search, and which don't.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Countries — where searchers are located. Useful for prioritising languages and messaging.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Impressions vs clicks — are you appearing in search but not being chosen?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activity — Set up your Google Alert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Opengoogle.com/alertson your phone or laptop.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Type:"Gambia tourism"→ click Create Alert.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Type:"[your sector] Gambia"— e.g. "craft market Gambia," "Gambia birdwatching," "Gambia music" → Create Alert.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48737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48737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8463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Set frequency toOnce a week.Confirm your email.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 · TRIPADVISOR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TripAdvisor surfaces for The Gambia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top 9 things to do in The Gambia, according to TripAdvisor: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 20-minute monthly scan tells you what's visible — and what your sector needs to do to appear here.</a:t>
            </a:r>
          </a:p>
        </p:txBody>
      </p:sp>
      <p:pic>
        <p:nvPicPr>
          <p:cNvPr id="5" name="Picture 4" descr="tripadvisor_gambia_to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1 — MONITOR ·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Track four numbers. That's your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These indicators come directly from D2 Table 20. Ready-made — you don't need to design your own framework.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809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 2025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 2026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ITO creative tourism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/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Average visitor sentiment score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+0.24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+0.30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Verified TripAdvisor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/>
                </a:tc>
              </a:tr>
              <a:tr h="76809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Average review rating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2 — MAKE YOUR SECTOR FINDABLE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Creative tourism is item 8. With no way to book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 travel blogger loved The Gambia. She lists creative tourism as reason #8 of 12 to visit. She describes vibrant dance, music, handicrafts.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← Reason #8 of 12. Loved. Memorable. Not findable. Not bookable.</a:t>
            </a:r>
          </a:p>
        </p:txBody>
      </p:sp>
      <p:pic>
        <p:nvPicPr>
          <p:cNvPr id="5" name="Picture 4" descr="visit_gambia_blog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2 — FROM SCATTERED TO SEARCHABLE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One place. One responsible person.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 WhatsApp Business catalogue is free, takes an hour to set up, and reaches buyers directly on the platform your members already use every day.</a:t>
            </a:r>
          </a:p>
        </p:txBody>
      </p:sp>
      <p:pic>
        <p:nvPicPr>
          <p:cNvPr id="5" name="Picture 4" descr="whatsapp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2 — MAKE FINDABLE · BY INSTITUTION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Every institution can own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353568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GT Board — VisitTheGambia.com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functional creative industries section: bookable experiences, sector contacts, events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199" y="2103120"/>
            <a:ext cx="353568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0080" y="23317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Craft Market Federation — Member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0" y="29260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Names, photos, specialisms, WhatsApp. A tourist reads about vibrant craft markets — this is where they find who to contact.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5759" y="2103120"/>
            <a:ext cx="353568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39" y="23317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Tour Guide Association — Verified guide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39" y="29260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Name, languages, specialisms, contact. One page. Operators reference it. Tourists find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2 — PLATFORM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national portal: what's there, what's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"Explore Eco Friendly Environments." The national portal. Creative industries: not on this page.</a:t>
            </a:r>
          </a:p>
        </p:txBody>
      </p:sp>
      <p:pic>
        <p:nvPicPr>
          <p:cNvPr id="5" name="Picture 4" descr="visit_the_gambia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Gap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3 · 13:15–14:45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Things 3 + 4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Things 1 and 2 are about reading and organising. Things 3 and 4 are about using what you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3 · THINGS 3 + 4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Three things SMEs need that training alone cannot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The gap between 'can do' and 'does' is where institutions matter most. Three things SMEs consistently need that skill-building cannot deliver on its own: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353568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Being findable by the right audiences — international operators, travel journalists, and platforms SMEs can't reach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199" y="2331720"/>
            <a:ext cx="353568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Credibility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Being trusted by buyers and booking platforms. A trained SME still needs institutional endorsement to be taken seriously.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59" y="2331720"/>
            <a:ext cx="353568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8639" y="2560320"/>
            <a:ext cx="316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39" y="3154679"/>
            <a:ext cx="316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Being connected to markets, events, and decision-makers. Institutions open doors individuals cannot.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3 — OPEN A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door only you can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Individual SMEs — even successful ones — cannot introduce themselves to international operators, invite travel journalists, or join a trade fair delegation alone.</a:t>
            </a:r>
          </a:p>
        </p:txBody>
      </p:sp>
      <p:pic>
        <p:nvPicPr>
          <p:cNvPr id="5" name="Picture 4" descr="the-gambia-9VbmW5bEbp0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3 —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closing the gap actually requires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None of this can be done by individual SMEs. All of it is within institutional mandate.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Invite one international operator for a creative industries familiarisation visit. One trip can directly influence dozens of itineraries.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Two pages, written for operators. Ready-to-use content for their own marketing — removes the friction that keeps creative sectors absent from itineraries.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Broker two specific operator–SME introductions from participants in this training week. Low effort, immediate signal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3 — WHAT EACH TIER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You don't need to open every door. Identify one. Make it a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most durable support structures are those simple enough to maintain with existing staff and resources — not those requiring specialist skills or dedicated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What door can your institution open?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One thing your institution could realistically do in the next six months to better support SME visibility or market access — without additional budget.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Individual (5 min):Write it down. Be specific — not "connect with operators" but "invite [type of operator] for a one-day creative industries fam visit in [month]" or "distribute GT Board quarterly brief to our members via WhatsApp."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Pairs (5 min):Share with someone from a different tier or sector. Is it realistic? What would it actually take?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Facilitator reads back 4–5 responsesand groups on the board by 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4 — SHARE A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Intelligence your members don't know to ask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SMEs know their own businesses. They don't know how The Gambia is being sold internationally, what operators are saying, or what trends are emerging in source markets.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You do — because you've been monitoring (Thing 1).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← This blogger wrote about The Gambia in Jan 2026. Did your members know? Could they have been featured?</a:t>
            </a:r>
          </a:p>
        </p:txBody>
      </p:sp>
      <p:pic>
        <p:nvPicPr>
          <p:cNvPr id="5" name="Picture 4" descr="visit_gambia_blog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THING 4 — THE BRIEFING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One page. Three sections. Quarterly.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Section 1 — What we saw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Key findings from monitoring — 2–3 bullet points. What's new, what's changed, what's still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Section 2 — What it means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Practical implications for members. Not analysis — direct guidance relevant to their businesses.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Section 3 — One thing to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 concrete action members can take this month. Specific and checkable.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Calibri"/>
              </a:rPr>
              <a:t>Tone: peers sharing intelligence, not management reporting down.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THING 4 — THE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From monitoring to briefing in three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Check 3–4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Google Alert digest, 20 TripAdvisor reviews, 5 operator pages. What's new, changing, or worth acting 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Note 2–3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did you see that your members don't know? What trend is emerging? What gap is still there?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Write one paragraph.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Send by WhatsApp, email, or raise at your next sector meeting. Done. 2 hours per quarter.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Your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Every association in this room is a distribution channel. This maps who can reach how many people — and what content would actually travel through those channels.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How many members does your institution or association represent? 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One channel you currently use to reach them:WhatsApp / meetings / email / newsletter /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One thing GT Board or NCAC could give you that you wouldimmediately distributeto your members: 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THING 4 — THE MULTIPLIER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One briefing. Nine channels. Hundreds of businesses.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GT Board produces one quarterly brief. Nine associations each distribute to their members.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One document reaches the whole ecosystem — with 2 hours of work.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Associations: Music Union · Photographers Association · Visual Arts · Craft Market · Collecting Society · Bird Watchers · Tour Guides · Chef Association · Tourist Security Guard Association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Each association multiplies the reach: one brief → hundreds of individual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0059"/>
                </a:solidFill>
                <a:latin typeface="Calibri"/>
              </a:rPr>
              <a:t>Day 1 Close · 15:00–16:00 · 60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Not three months. Not six months. One thing you will do in the next 30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The journalist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25 min · Day 1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"A journalist from a Dutch travel magazine is writing a piece on cultural tourism in The Gambia. They search online for contacts, experiences, and bookable products. Would they find your organisation? Would they find your members? "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Individual (8 min):Write — what the journalist would find about your sector; what they would miss; one thing that, if it existed, would change the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Pairs (8 min):Compare. Does your partner agree with your assessment?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Group (8 min):4–5 share. Facilitator captures on board: Currently findable · Visible but not bookable · Effectively invisible.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One thing in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Not three months. Not six months. One thing you will do in the next 30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END OF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See you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Today was about what each of you can do individually. Friday shifts focus.</a:t>
            </a:r>
          </a:p>
        </p:txBody>
      </p:sp>
      <p:pic>
        <p:nvPicPr>
          <p:cNvPr id="5" name="Picture 4" descr="wim-van-t-einde-ELHzK-UFabY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Template — Gambia Tourism Training</dc:title>
  <dc:subject>PptxGenJS Presentation</dc:subject>
  <dc:creator>ITC YEP — The Gambia</dc:creator>
  <cp:lastModifiedBy>ITC YEP — The Gambia</cp:lastModifiedBy>
  <cp:revision>1</cp:revision>
  <dcterms:created xsi:type="dcterms:W3CDTF">2026-04-30T08:07:19Z</dcterms:created>
  <dcterms:modified xsi:type="dcterms:W3CDTF">2026-04-30T08:07:19Z</dcterms:modified>
</cp:coreProperties>
</file>